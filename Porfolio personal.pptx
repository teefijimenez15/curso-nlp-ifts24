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4630400" cy="8229600"/>
  <p:notesSz cx="8229600" cy="14630400"/>
  <p:embeddedFontLst>
    <p:embeddedFont>
      <p:font typeface="Inconsolata" pitchFamily="1" charset="0"/>
      <p:regular r:id="rId8"/>
    </p:embeddedFont>
    <p:embeddedFont>
      <p:font typeface="Montserrat Black" panose="00000A00000000000000" pitchFamily="2" charset="0"/>
      <p:regular r:id="rId9"/>
      <p:bold r:id="rId10"/>
    </p:embeddedFont>
  </p:embeddedFontLst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7" d="100"/>
          <a:sy n="57" d="100"/>
        </p:scale>
        <p:origin x="8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ia Jimenez" userId="526850ada1ea9c31" providerId="LiveId" clId="{2CF33320-2C76-4577-9D52-B9A057183CFD}"/>
    <pc:docChg chg="modSld">
      <pc:chgData name="Stefania Jimenez" userId="526850ada1ea9c31" providerId="LiveId" clId="{2CF33320-2C76-4577-9D52-B9A057183CFD}" dt="2025-11-19T17:48:44.459" v="3" actId="1076"/>
      <pc:docMkLst>
        <pc:docMk/>
      </pc:docMkLst>
      <pc:sldChg chg="modSp mod">
        <pc:chgData name="Stefania Jimenez" userId="526850ada1ea9c31" providerId="LiveId" clId="{2CF33320-2C76-4577-9D52-B9A057183CFD}" dt="2025-11-19T17:48:04.278" v="0" actId="20577"/>
        <pc:sldMkLst>
          <pc:docMk/>
          <pc:sldMk cId="0" sldId="259"/>
        </pc:sldMkLst>
        <pc:spChg chg="mod">
          <ac:chgData name="Stefania Jimenez" userId="526850ada1ea9c31" providerId="LiveId" clId="{2CF33320-2C76-4577-9D52-B9A057183CFD}" dt="2025-11-19T17:48:04.278" v="0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Stefania Jimenez" userId="526850ada1ea9c31" providerId="LiveId" clId="{2CF33320-2C76-4577-9D52-B9A057183CFD}" dt="2025-11-19T17:48:44.459" v="3" actId="1076"/>
        <pc:sldMkLst>
          <pc:docMk/>
          <pc:sldMk cId="0" sldId="260"/>
        </pc:sldMkLst>
        <pc:spChg chg="mod">
          <ac:chgData name="Stefania Jimenez" userId="526850ada1ea9c31" providerId="LiveId" clId="{2CF33320-2C76-4577-9D52-B9A057183CFD}" dt="2025-11-19T17:48:40.098" v="2" actId="20577"/>
          <ac:spMkLst>
            <pc:docMk/>
            <pc:sldMk cId="0" sldId="260"/>
            <ac:spMk id="5" creationId="{00000000-0000-0000-0000-000000000000}"/>
          </ac:spMkLst>
        </pc:spChg>
        <pc:spChg chg="mod">
          <ac:chgData name="Stefania Jimenez" userId="526850ada1ea9c31" providerId="LiveId" clId="{2CF33320-2C76-4577-9D52-B9A057183CFD}" dt="2025-11-19T17:48:44.459" v="3" actId="1076"/>
          <ac:spMkLst>
            <pc:docMk/>
            <pc:sldMk cId="0" sldId="260"/>
            <ac:spMk id="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93929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s-A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s-A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s-A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s-A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eefijimenez15/curso-nlp-ifts24/tree/main/Proyecto_integrador_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eefijimenez15/curso-nlp-ifts24/tree/main/EJERCICIOS%20ENTREGA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eefijimenez15/curso-nlp-ifts24/tree/main/Proyecto_integrador_2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93790" y="2236351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PROCESAMIENTO DEL HABLA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994071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Portfolio de Trabajos | Ciclo 2025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4612124"/>
            <a:ext cx="75564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Stefania Jimenez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93790" y="5157549"/>
            <a:ext cx="75564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IFTS 24 - Tecnicatura Superior en Ciencias de Datos e IA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3790" y="5702975"/>
            <a:ext cx="75564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Docente: Prof. Matías Barreto</a:t>
            </a:r>
            <a:endParaRPr lang="en-US" sz="140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4533CB3-4B1D-3A5A-1D57-DB9C66260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5061" y="44681"/>
            <a:ext cx="5445339" cy="81849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160770" y="530423"/>
            <a:ext cx="5185648" cy="481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50"/>
              </a:lnSpc>
              <a:buNone/>
            </a:pPr>
            <a:r>
              <a:rPr lang="en-US" sz="30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TRABAJO INTEGRADOR 1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160770" y="1089184"/>
            <a:ext cx="7795260" cy="722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Análisis de Diferenciación Léxica en Cuentos de Horacio Quiroga</a:t>
            </a:r>
            <a:endParaRPr lang="en-US" sz="2250" dirty="0"/>
          </a:p>
        </p:txBody>
      </p:sp>
      <p:sp>
        <p:nvSpPr>
          <p:cNvPr id="5" name="Text 2"/>
          <p:cNvSpPr/>
          <p:nvPr/>
        </p:nvSpPr>
        <p:spPr>
          <a:xfrm>
            <a:off x="6160770" y="2274213"/>
            <a:ext cx="4489133" cy="1848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Objetivo: Determinar la diferencia léxica y temática entre cuentos para adultos y fábulas infantiles. Se aplicó Procesamiento de Lenguaje Natural (NLP) para validar la hipótesis de un vocabulario más oscuro y complejo en el corpus adulto.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160770" y="4296370"/>
            <a:ext cx="4489133" cy="1232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Métrica/Hallazgo: El análisis TF-IDF confirmó una similitud mínima entre categorías temáticas (0.015 Similitud), validando claramente la diferenciación léxica propuesta.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60770" y="5702260"/>
            <a:ext cx="4489133" cy="308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u="sng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1127581" y="2943582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Python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11127581" y="4255889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Scikit-learn</a:t>
            </a:r>
            <a:endParaRPr lang="en-US" sz="1850" dirty="0"/>
          </a:p>
        </p:txBody>
      </p:sp>
      <p:sp>
        <p:nvSpPr>
          <p:cNvPr id="13" name="Text 7"/>
          <p:cNvSpPr/>
          <p:nvPr/>
        </p:nvSpPr>
        <p:spPr>
          <a:xfrm>
            <a:off x="11127581" y="5568196"/>
            <a:ext cx="2408515" cy="300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NLTK</a:t>
            </a:r>
            <a:endParaRPr lang="en-US" sz="1850" dirty="0"/>
          </a:p>
        </p:txBody>
      </p:sp>
      <p:sp>
        <p:nvSpPr>
          <p:cNvPr id="15" name="Text 8"/>
          <p:cNvSpPr/>
          <p:nvPr/>
        </p:nvSpPr>
        <p:spPr>
          <a:xfrm>
            <a:off x="11127581" y="6880503"/>
            <a:ext cx="2836069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Sentence-Transformers</a:t>
            </a:r>
            <a:endParaRPr lang="en-US" sz="185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410C9B-5B92-206A-095B-050B965F36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-1"/>
            <a:ext cx="5418667" cy="81953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48494" y="630555"/>
            <a:ext cx="7801808" cy="401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5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TRABAJOS PRÁCTICOS CON TRANSFORMERS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6048494" y="1096208"/>
            <a:ext cx="2841784" cy="250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4 Proyectos de Aplicación</a:t>
            </a:r>
            <a:endParaRPr lang="en-US" sz="1550" dirty="0"/>
          </a:p>
        </p:txBody>
      </p:sp>
      <p:sp>
        <p:nvSpPr>
          <p:cNvPr id="5" name="Shape 2"/>
          <p:cNvSpPr/>
          <p:nvPr/>
        </p:nvSpPr>
        <p:spPr>
          <a:xfrm>
            <a:off x="6048494" y="1587937"/>
            <a:ext cx="8019812" cy="1272897"/>
          </a:xfrm>
          <a:prstGeom prst="roundRect">
            <a:avLst>
              <a:gd name="adj" fmla="val 718"/>
            </a:avLst>
          </a:prstGeom>
          <a:solidFill>
            <a:srgbClr val="F8ECE4"/>
          </a:solidFill>
          <a:ln w="22860">
            <a:solidFill>
              <a:srgbClr val="151617"/>
            </a:solidFill>
            <a:prstDash val="solid"/>
          </a:ln>
          <a:effectLst>
            <a:outerShdw dist="1397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6" name="Shape 3"/>
          <p:cNvSpPr/>
          <p:nvPr/>
        </p:nvSpPr>
        <p:spPr>
          <a:xfrm>
            <a:off x="6071354" y="1610797"/>
            <a:ext cx="642461" cy="1227177"/>
          </a:xfrm>
          <a:prstGeom prst="rect">
            <a:avLst/>
          </a:prstGeom>
          <a:solidFill>
            <a:srgbClr val="F8ECE4"/>
          </a:solidFill>
          <a:ln/>
          <a:effectLst>
            <a:outerShdw dist="1397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7" name="Text 4"/>
          <p:cNvSpPr/>
          <p:nvPr/>
        </p:nvSpPr>
        <p:spPr>
          <a:xfrm>
            <a:off x="6268283" y="2073831"/>
            <a:ext cx="240863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1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6874431" y="1771412"/>
            <a:ext cx="2007751" cy="250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TP 1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874431" y="2118598"/>
            <a:ext cx="7010400" cy="256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Moderación Automática de Comentarios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874431" y="2471857"/>
            <a:ext cx="7010400" cy="2055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Tech: HuggingFace Pipeline - BETO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48494" y="3021449"/>
            <a:ext cx="8019812" cy="1272897"/>
          </a:xfrm>
          <a:prstGeom prst="roundRect">
            <a:avLst>
              <a:gd name="adj" fmla="val 718"/>
            </a:avLst>
          </a:prstGeom>
          <a:solidFill>
            <a:srgbClr val="F8ECE4"/>
          </a:solidFill>
          <a:ln w="22860">
            <a:solidFill>
              <a:srgbClr val="151617"/>
            </a:solidFill>
            <a:prstDash val="solid"/>
          </a:ln>
          <a:effectLst>
            <a:outerShdw dist="1397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2" name="Shape 9"/>
          <p:cNvSpPr/>
          <p:nvPr/>
        </p:nvSpPr>
        <p:spPr>
          <a:xfrm>
            <a:off x="6071354" y="3044309"/>
            <a:ext cx="642461" cy="1227177"/>
          </a:xfrm>
          <a:prstGeom prst="rect">
            <a:avLst/>
          </a:prstGeom>
          <a:solidFill>
            <a:srgbClr val="F8ECE4"/>
          </a:solidFill>
          <a:ln/>
          <a:effectLst>
            <a:outerShdw dist="1397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3" name="Text 10"/>
          <p:cNvSpPr/>
          <p:nvPr/>
        </p:nvSpPr>
        <p:spPr>
          <a:xfrm>
            <a:off x="6268283" y="3507343"/>
            <a:ext cx="240863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2</a:t>
            </a:r>
            <a:endParaRPr lang="en-US" sz="1850" dirty="0"/>
          </a:p>
        </p:txBody>
      </p:sp>
      <p:sp>
        <p:nvSpPr>
          <p:cNvPr id="14" name="Text 11"/>
          <p:cNvSpPr/>
          <p:nvPr/>
        </p:nvSpPr>
        <p:spPr>
          <a:xfrm>
            <a:off x="6874431" y="3204924"/>
            <a:ext cx="2007751" cy="250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TP 2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874431" y="3552111"/>
            <a:ext cx="7010400" cy="256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Extracción de Entidades en CVs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874431" y="3905369"/>
            <a:ext cx="7010400" cy="2055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Tech: HuggingFace NER - BERT-Spanish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48494" y="4454962"/>
            <a:ext cx="8019812" cy="1272897"/>
          </a:xfrm>
          <a:prstGeom prst="roundRect">
            <a:avLst>
              <a:gd name="adj" fmla="val 718"/>
            </a:avLst>
          </a:prstGeom>
          <a:solidFill>
            <a:srgbClr val="F8ECE4"/>
          </a:solidFill>
          <a:ln w="22860">
            <a:solidFill>
              <a:srgbClr val="151617"/>
            </a:solidFill>
            <a:prstDash val="solid"/>
          </a:ln>
          <a:effectLst>
            <a:outerShdw dist="1397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8" name="Shape 15"/>
          <p:cNvSpPr/>
          <p:nvPr/>
        </p:nvSpPr>
        <p:spPr>
          <a:xfrm>
            <a:off x="6071354" y="4477822"/>
            <a:ext cx="642461" cy="1227177"/>
          </a:xfrm>
          <a:prstGeom prst="rect">
            <a:avLst/>
          </a:prstGeom>
          <a:solidFill>
            <a:srgbClr val="F8ECE4"/>
          </a:solidFill>
          <a:ln/>
          <a:effectLst>
            <a:outerShdw dist="1397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9" name="Text 16"/>
          <p:cNvSpPr/>
          <p:nvPr/>
        </p:nvSpPr>
        <p:spPr>
          <a:xfrm>
            <a:off x="6268283" y="4940856"/>
            <a:ext cx="240863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3</a:t>
            </a:r>
            <a:endParaRPr lang="en-US" sz="1850" dirty="0"/>
          </a:p>
        </p:txBody>
      </p:sp>
      <p:sp>
        <p:nvSpPr>
          <p:cNvPr id="20" name="Text 17"/>
          <p:cNvSpPr/>
          <p:nvPr/>
        </p:nvSpPr>
        <p:spPr>
          <a:xfrm>
            <a:off x="6874431" y="4638437"/>
            <a:ext cx="2007751" cy="250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TP 3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874431" y="4985623"/>
            <a:ext cx="7010400" cy="256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Chatbot de Políticas de Empresa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874431" y="5338882"/>
            <a:ext cx="7010400" cy="2055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Tech: HuggingFace QA - BERT-SQUAD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048494" y="5888474"/>
            <a:ext cx="8019812" cy="1272897"/>
          </a:xfrm>
          <a:prstGeom prst="roundRect">
            <a:avLst>
              <a:gd name="adj" fmla="val 718"/>
            </a:avLst>
          </a:prstGeom>
          <a:solidFill>
            <a:srgbClr val="F8ECE4"/>
          </a:solidFill>
          <a:ln w="22860">
            <a:solidFill>
              <a:srgbClr val="151617"/>
            </a:solidFill>
            <a:prstDash val="solid"/>
          </a:ln>
          <a:effectLst>
            <a:outerShdw dist="1397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24" name="Shape 21"/>
          <p:cNvSpPr/>
          <p:nvPr/>
        </p:nvSpPr>
        <p:spPr>
          <a:xfrm>
            <a:off x="6071354" y="5911334"/>
            <a:ext cx="642461" cy="1227177"/>
          </a:xfrm>
          <a:prstGeom prst="rect">
            <a:avLst/>
          </a:prstGeom>
          <a:solidFill>
            <a:srgbClr val="F8ECE4"/>
          </a:solidFill>
          <a:ln/>
          <a:effectLst>
            <a:outerShdw dist="1397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25" name="Text 22"/>
          <p:cNvSpPr/>
          <p:nvPr/>
        </p:nvSpPr>
        <p:spPr>
          <a:xfrm>
            <a:off x="6268283" y="6374368"/>
            <a:ext cx="240863" cy="3011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4</a:t>
            </a:r>
            <a:endParaRPr lang="en-US" sz="1850" dirty="0"/>
          </a:p>
        </p:txBody>
      </p:sp>
      <p:sp>
        <p:nvSpPr>
          <p:cNvPr id="26" name="Text 23"/>
          <p:cNvSpPr/>
          <p:nvPr/>
        </p:nvSpPr>
        <p:spPr>
          <a:xfrm>
            <a:off x="6874431" y="6071949"/>
            <a:ext cx="2007751" cy="250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5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TP 4 (Autónomo)</a:t>
            </a:r>
            <a:endParaRPr lang="en-US" sz="1550" dirty="0"/>
          </a:p>
        </p:txBody>
      </p:sp>
      <p:sp>
        <p:nvSpPr>
          <p:cNvPr id="27" name="Text 24"/>
          <p:cNvSpPr/>
          <p:nvPr/>
        </p:nvSpPr>
        <p:spPr>
          <a:xfrm>
            <a:off x="6874431" y="6419136"/>
            <a:ext cx="7010400" cy="256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Análisis de Reseñas Integrado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6874431" y="6772394"/>
            <a:ext cx="7010400" cy="2055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Tech: Pipelines Múltiples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048494" y="7341989"/>
            <a:ext cx="8019812" cy="256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400" u="sng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400" dirty="0"/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4526896F-700A-396F-83B2-338FE9222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235"/>
            <a:ext cx="5486400" cy="81871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000393" y="403860"/>
            <a:ext cx="4774763" cy="367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3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TRABAJO INTEGRADOR FINAL</a:t>
            </a:r>
            <a:endParaRPr lang="en-US" sz="2300" dirty="0"/>
          </a:p>
        </p:txBody>
      </p:sp>
      <p:sp>
        <p:nvSpPr>
          <p:cNvPr id="4" name="Text 1"/>
          <p:cNvSpPr/>
          <p:nvPr/>
        </p:nvSpPr>
        <p:spPr>
          <a:xfrm>
            <a:off x="6000393" y="829628"/>
            <a:ext cx="8116014" cy="917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RAG-Analyzer: Chatbot</a:t>
            </a:r>
            <a:endParaRPr lang="en-US" sz="2850" dirty="0"/>
          </a:p>
        </p:txBody>
      </p:sp>
      <p:sp>
        <p:nvSpPr>
          <p:cNvPr id="5" name="Text 2"/>
          <p:cNvSpPr/>
          <p:nvPr/>
        </p:nvSpPr>
        <p:spPr>
          <a:xfrm>
            <a:off x="6000393" y="2100024"/>
            <a:ext cx="3878937" cy="470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Problema: Explorar y resumir grandes volúmenes de opiniones de clientes o usuarios.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000393" y="2702242"/>
            <a:ext cx="3878937" cy="1410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Solución: Un sistema RAG (Retrieval Augmented Generation) potenciado con Flan-T5 para generar respuestas contextualizadas y citadas, complementado con modelos de Machine Learning y Transformers para una clasificación automática y eficiente del sentimiento expresado en las reseñas.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000393" y="4244578"/>
            <a:ext cx="3878937" cy="940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Métricas Destacadas: Generación de respuestas contextualizadas y precisas a partir de un corpus de 100 reseñas, demostrando la capacidad del sistema para manejar información compleja y diversa.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000393" y="5316855"/>
            <a:ext cx="3878937" cy="470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Equipo: Michelle Zambrano, Florencia Lombardi y Stefania Jimenez.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000393" y="5919073"/>
            <a:ext cx="3878937" cy="235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u="sng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Proyecto Final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000393" y="6286262"/>
            <a:ext cx="3878937" cy="235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Video Demo: </a:t>
            </a:r>
            <a:r>
              <a:rPr lang="en-US" sz="1150" b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[LINK DEL VIDEO AQUÍ]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0245090" y="2683550"/>
            <a:ext cx="1835825" cy="2294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Python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0245090" y="3059787"/>
            <a:ext cx="3878937" cy="235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(LangChain, Transformers)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10245090" y="4139089"/>
            <a:ext cx="1835825" cy="2294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ChromaDB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0245090" y="4515326"/>
            <a:ext cx="3878937" cy="235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(Vector Store)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10245090" y="5594628"/>
            <a:ext cx="1835825" cy="2294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Flan-T5-base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0245090" y="5970865"/>
            <a:ext cx="3878937" cy="235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(Generación de Lenguaje)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10245090" y="7050167"/>
            <a:ext cx="1835825" cy="2294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Streamlit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10245090" y="7426404"/>
            <a:ext cx="3878937" cy="2350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(Interfaz de Usuario)</a:t>
            </a:r>
            <a:endParaRPr lang="en-US" sz="115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9DF0C06-B825-8FAD-D0AE-5713FCD779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4642"/>
            <a:ext cx="5418667" cy="82126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919639"/>
            <a:ext cx="7556421" cy="113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DEMOSTRACIÓN EN VIDEO (1 MINUTO)</a:t>
            </a:r>
            <a:endParaRPr lang="en-US" sz="3550" dirty="0"/>
          </a:p>
        </p:txBody>
      </p:sp>
      <p:sp>
        <p:nvSpPr>
          <p:cNvPr id="4" name="Text 1"/>
          <p:cNvSpPr/>
          <p:nvPr/>
        </p:nvSpPr>
        <p:spPr>
          <a:xfrm>
            <a:off x="6280190" y="2144316"/>
            <a:ext cx="44691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RAG-Analyzer en Acción</a:t>
            </a:r>
            <a:endParaRPr lang="en-US" sz="2650" dirty="0"/>
          </a:p>
        </p:txBody>
      </p:sp>
      <p:sp>
        <p:nvSpPr>
          <p:cNvPr id="5" name="Text 2"/>
          <p:cNvSpPr/>
          <p:nvPr/>
        </p:nvSpPr>
        <p:spPr>
          <a:xfrm>
            <a:off x="6280190" y="2909768"/>
            <a:ext cx="7556421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Este video es una demostración compacta del RAG-Analyzer, destacando su capacidad para procesar y responder preguntas sobre reseñas en tiempo real. 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280189" y="4414703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Observa cómo el sistema responde </a:t>
            </a:r>
            <a:r>
              <a:rPr lang="en-US" sz="1750" dirty="0" err="1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consultas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</a:t>
            </a:r>
            <a:r>
              <a:rPr lang="en-US" sz="1750" dirty="0" err="1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complejas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.</a:t>
            </a:r>
            <a:endParaRPr lang="en-US" sz="175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C7C3233-2B8E-E834-5F88-AF2DBE6139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1115"/>
            <a:ext cx="5486400" cy="82381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360</Words>
  <Application>Microsoft Office PowerPoint</Application>
  <PresentationFormat>Personalizado</PresentationFormat>
  <Paragraphs>58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Montserrat Black</vt:lpstr>
      <vt:lpstr>Inconsolata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Usuario</dc:creator>
  <cp:lastModifiedBy>Stefania Jimenez</cp:lastModifiedBy>
  <cp:revision>2</cp:revision>
  <dcterms:created xsi:type="dcterms:W3CDTF">2025-11-19T16:42:11Z</dcterms:created>
  <dcterms:modified xsi:type="dcterms:W3CDTF">2025-11-19T17:48:44Z</dcterms:modified>
</cp:coreProperties>
</file>